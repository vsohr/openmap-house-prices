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(£K)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1995</c:v>
                  </c:pt>
                  <c:pt idx="1">
                    <c:v>1997</c:v>
                  </c:pt>
                  <c:pt idx="2">
                    <c:v>1999</c:v>
                  </c:pt>
                  <c:pt idx="3">
                    <c:v>2001</c:v>
                  </c:pt>
                  <c:pt idx="4">
                    <c:v>2003</c:v>
                  </c:pt>
                  <c:pt idx="5">
                    <c:v>2005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2010</c:v>
                  </c:pt>
                  <c:pt idx="9">
                    <c:v>2012</c:v>
                  </c:pt>
                  <c:pt idx="10">
                    <c:v>2014</c:v>
                  </c:pt>
                  <c:pt idx="11">
                    <c:v>2016</c:v>
                  </c:pt>
                  <c:pt idx="12">
                    <c:v>2018</c:v>
                  </c:pt>
                  <c:pt idx="13">
                    <c:v>2020</c:v>
                  </c:pt>
                  <c:pt idx="14">
                    <c:v>2022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62</c:v>
                </c:pt>
                <c:pt idx="1">
                  <c:v>68</c:v>
                </c:pt>
                <c:pt idx="2">
                  <c:v>78</c:v>
                </c:pt>
                <c:pt idx="3">
                  <c:v>95</c:v>
                </c:pt>
                <c:pt idx="4">
                  <c:v>135</c:v>
                </c:pt>
                <c:pt idx="5">
                  <c:v>190</c:v>
                </c:pt>
                <c:pt idx="6">
                  <c:v>210</c:v>
                </c:pt>
                <c:pt idx="7">
                  <c:v>215</c:v>
                </c:pt>
                <c:pt idx="8">
                  <c:v>168</c:v>
                </c:pt>
                <c:pt idx="9">
                  <c:v>170</c:v>
                </c:pt>
                <c:pt idx="10">
                  <c:v>195</c:v>
                </c:pt>
                <c:pt idx="11">
                  <c:v>215</c:v>
                </c:pt>
                <c:pt idx="12">
                  <c:v>230</c:v>
                </c:pt>
                <c:pt idx="13">
                  <c:v>245</c:v>
                </c:pt>
                <c:pt idx="14">
                  <c:v>260</c:v>
                </c:pt>
                <c:pt idx="15">
                  <c:v>275</c:v>
                </c:pt>
                <c:pt idx="16">
                  <c:v>270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Sell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Scotland</c:v>
                  </c:pt>
                  <c:pt idx="1">
                    <c:v>North West</c:v>
                  </c:pt>
                  <c:pt idx="2">
                    <c:v>North East</c:v>
                  </c:pt>
                  <c:pt idx="3">
                    <c:v>Yorkshire</c:v>
                  </c:pt>
                  <c:pt idx="4">
                    <c:v>East Midlands</c:v>
                  </c:pt>
                  <c:pt idx="5">
                    <c:v>West Midlands</c:v>
                  </c:pt>
                  <c:pt idx="6">
                    <c:v>East of England</c:v>
                  </c:pt>
                  <c:pt idx="7">
                    <c:v>South West</c:v>
                  </c:pt>
                  <c:pt idx="8">
                    <c:v>London</c:v>
                  </c:pt>
                  <c:pt idx="9">
                    <c:v>South East</c:v>
                  </c:pt>
                  <c:pt idx="10">
                    <c:v>Wales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</c:v>
                </c:pt>
                <c:pt idx="1">
                  <c:v>33</c:v>
                </c:pt>
                <c:pt idx="2">
                  <c:v>35</c:v>
                </c:pt>
                <c:pt idx="3">
                  <c:v>37</c:v>
                </c:pt>
                <c:pt idx="4">
                  <c:v>40</c:v>
                </c:pt>
                <c:pt idx="5">
                  <c:v>42</c:v>
                </c:pt>
                <c:pt idx="6">
                  <c:v>45</c:v>
                </c:pt>
                <c:pt idx="7">
                  <c:v>46</c:v>
                </c:pt>
                <c:pt idx="8">
                  <c:v>48</c:v>
                </c:pt>
                <c:pt idx="9">
                  <c:v>50</c:v>
                </c:pt>
                <c:pt idx="10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8BDF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8BDF8"/>
                </a:solidFill>
                <a:latin typeface="Arial"/>
              </a:rPr>
              <a:t>UK Average Prices (2025)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(£K)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Detached</c:v>
                  </c:pt>
                  <c:pt idx="1">
                    <c:v>Semi-detached</c:v>
                  </c:pt>
                  <c:pt idx="2">
                    <c:v>Terraced</c:v>
                  </c:pt>
                  <c:pt idx="3">
                    <c:v>Flat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</c:v>
                </c:pt>
                <c:pt idx="1">
                  <c:v>310</c:v>
                </c:pt>
                <c:pt idx="2">
                  <c:v>245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8BDF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38BDF8"/>
                </a:solidFill>
                <a:latin typeface="Arial"/>
              </a:rPr>
              <a:t>Share of Transactions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38BDF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AF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AF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AF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AF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Terraced</c:v>
                </c:pt>
                <c:pt idx="1">
                  <c:v>Semi-detached</c:v>
                </c:pt>
                <c:pt idx="2">
                  <c:v>Flat</c:v>
                </c:pt>
                <c:pt idx="3">
                  <c:v>Detached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</c:v>
                </c:pt>
                <c:pt idx="1">
                  <c:v>26</c:v>
                </c:pt>
                <c:pt idx="2">
                  <c:v>24</c:v>
                </c:pt>
                <c:pt idx="3">
                  <c:v>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548640"/>
            <a:ext cx="2468880" cy="2468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House Price Map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choropleth map for property investors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Visualising 24 million+ Land Registry transactions across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2,800 postcode districts in England &amp; Wales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475488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4800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24M+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475488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4800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2064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475488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4800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yrs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9808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investors need to identify growth areas and compare price trends, but existing tools are either 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paywalls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show only 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asking prices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(not actual sold prices), or lack 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granularity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Pain Points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Rightmove/Zoopla show asking prices, not real sale prices</a:t>
            </a:r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free interactive map of actual transaction data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Hard to spot emerging growth areas at a glance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Comparing districts requires manual lookup across multiple sites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56032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Investors Want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32004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 sold prices from official government records</a:t>
            </a:r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Visual map to spot growth trends quickly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Year-over-year comparisons across districts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Breakdown by property type (houses vs flats)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free, open-source interactive map powered entirely by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government data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Colour-coded map: blue = falling, red = rising</a:t>
            </a:r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Click any district for detailed stats &amp; charts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Filter by property type &amp; year range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Compare districts side by side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Regional average days to sell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Interactive Map Preview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0" y="27432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27432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Scotland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0" y="356616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3566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0" y="356616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566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Yorks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420624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Mid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0" y="420624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EAB308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Mid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12480" y="484632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846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London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484632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4846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75520" y="2743200"/>
            <a:ext cx="1280160" cy="29260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834640"/>
            <a:ext cx="1188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District: SW1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Price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£850K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+3.2%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to Sell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days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49440" y="5623560"/>
            <a:ext cx="228600" cy="164592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5596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21040" y="5623560"/>
            <a:ext cx="228600" cy="164592"/>
          </a:xfrm>
          <a:prstGeom prst="rect">
            <a:avLst>
              <a:gd name="adj" fmla="val 11111"/>
            </a:avLst>
          </a:prstGeom>
          <a:solidFill>
            <a:srgbClr val="EAB308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5596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92640" y="5623560"/>
            <a:ext cx="228600" cy="164592"/>
          </a:xfrm>
          <a:prstGeom prst="rect">
            <a:avLst>
              <a:gd name="adj" fmla="val 11111"/>
            </a:avLst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0" y="5596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45720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Choropleth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Colour-coded districts showing year-over-year price growth. Spot trends at a glance.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828800"/>
            <a:ext cx="457200" cy="54864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Details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district for avg price, YoY change, transactions, and days to sell.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457200" cy="54864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Trend Charts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price chart per district with adjustable year range.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06240"/>
            <a:ext cx="457200" cy="54864"/>
          </a:xfrm>
          <a:prstGeom prst="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Type Filter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Detached, Semi, Terraced, or Flats. Compare by building type.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206240"/>
            <a:ext cx="457200" cy="54864"/>
          </a:xfrm>
          <a:prstGeom prst="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Navigate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postcode or area name. The map flies to the selected district.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0" y="4023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4206240"/>
            <a:ext cx="457200" cy="54864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Districts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comparison of two districts for investment evaluation.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House Price Growth (1995 – 2025)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house price trend based on HM Land Registry data.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03120"/>
          <a:ext cx="10515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HM Land Registry Price Paid Data. UK national average.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Days to Sell by Region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long properties take to sell varies dramatically across the UK.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103120"/>
            <a:ext cx="45720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0" y="26517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2.7x gap between fastest (Scotland, 21d) and slowest (Wales, 57d)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Northern regions sell faster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London not the slowest despite highest prices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Affordable markets attract quicker decisions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438912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Our 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0" y="4937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district sidebar shows the regional average days to sell, with the region name displayed so investors understand the granularity.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Zoopla House Price Index, January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Price by Property 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 vary significantly by building type. Our app breaks down each district.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21031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Approximate figures from Land Registry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 is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free, legal, and open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under government licences.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Provides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Coverage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HM Land Registry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Actual sold prices, dates, property types, postcodes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England &amp; Wales, 1995–present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Zoopla HPI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Regional average days to sell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 UK regions, monthly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OpenStreetMap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tiles for the interactive base map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Global, real-time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postcodes.io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Postcode geocoding (lat/lng coordinates)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UK postcodes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backend server required. A static site that can be hosted anywhere.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Registry 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 GB • 24M+ rows • Downloaded once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Processing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CSV → Group by district → Calculate stats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80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Files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districts-summary.geojson + per-district trend JSONs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5257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577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77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943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on demand → Leaflet choropleth → Interactive 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8346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5.9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0" y="28346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429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3429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66960" y="3429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React-Leaflet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csv-parser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dependencies are free and open-source. Zero hosting cost on static platforms like GitHub Pages or Vercel.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Housing Market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as of January 2026 from official sources.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£269,800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average house price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price change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21945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~40 days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average time to sell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02920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Variation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389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Scotland: fastest to sell (21 days avg)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North West: strongest growth, 6 of top 10 postcodes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Wales: slowest to sell (57 days avg)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London: highest prices but moderate growth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502920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Tool Matters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389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Regional performance varies dramatically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Affordable areas are outperforming expensive ones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Investors need granular, postcode-level visibility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Our map makes these patterns visible instantly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03120"/>
            <a:ext cx="1005840" cy="10058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the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app to see a colour-coded map. Blue = falling prices, red = rising. Pan and zoom to explore.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03120"/>
            <a:ext cx="1005840" cy="10058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 District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district to open the sidebar with avg price, YoY change, transactions, and days to sell.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103120"/>
            <a:ext cx="1005840" cy="10058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Trends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the historical price chart. Adjust the year range. See property type breakdown.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0" y="2103120"/>
            <a:ext cx="1005840" cy="10058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41832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&amp; Compare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property type. Compare two districts side by side. Search for specific postcodes.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822960" cy="54864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Term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EPC data integration (floor area, energy ratings)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Price-per-square-metre calculations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Links to Rightmove/Zoopla for current listings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Mobile-responsive layout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Term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Rental yield estimates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Transport links and amenity scoring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Investment hotspot prediction model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Scotland coverage (Registers of Scotland)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365760"/>
            <a:ext cx="1828800" cy="18288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0" y="548640"/>
            <a:ext cx="1463040" cy="1463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House Price 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840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&amp; Open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data, no paywalls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840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Backend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site, zero hosting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3840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24M+ Sales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8096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years of real transactions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github.com/vsohr/openmap-house-prices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House Price Map</dc:title>
  <dc:subject>UK House Price Map - Project Presentation</dc:subject>
  <dc:creator>UK House Price Map Team</dc:creator>
  <cp:lastModifiedBy>UK House Price Map Team</cp:lastModifiedBy>
  <cp:revision>1</cp:revision>
  <dcterms:created xsi:type="dcterms:W3CDTF">2026-02-15T16:53:52Z</dcterms:created>
  <dcterms:modified xsi:type="dcterms:W3CDTF">2026-02-15T16:53:52Z</dcterms:modified>
</cp:coreProperties>
</file>